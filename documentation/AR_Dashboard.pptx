
<file path=[Content_Types].xml><?xml version="1.0" encoding="utf-8"?>
<Types xmlns="http://schemas.openxmlformats.org/package/2006/content-types">
  <Default ContentType="image/jpeg" Extension="jpg"/>
  <Default ContentType="application/xml" Extension="xml"/>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2.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12.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Lst>
  <p:sldSz cy="51435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g386d0a4ccb7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2" name="Google Shape;52;g386d0a4ccb7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 name="Shape 55"/>
        <p:cNvGrpSpPr/>
        <p:nvPr/>
      </p:nvGrpSpPr>
      <p:grpSpPr>
        <a:xfrm>
          <a:off x="0" y="0"/>
          <a:ext cx="0" cy="0"/>
          <a:chOff x="0" y="0"/>
          <a:chExt cx="0" cy="0"/>
        </a:xfrm>
      </p:grpSpPr>
      <p:sp>
        <p:nvSpPr>
          <p:cNvPr id="56" name="Google Shape;56;g386d0a4ccb7_0_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7" name="Google Shape;57;g386d0a4ccb7_0_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 name="Shape 60"/>
        <p:cNvGrpSpPr/>
        <p:nvPr/>
      </p:nvGrpSpPr>
      <p:grpSpPr>
        <a:xfrm>
          <a:off x="0" y="0"/>
          <a:ext cx="0" cy="0"/>
          <a:chOff x="0" y="0"/>
          <a:chExt cx="0" cy="0"/>
        </a:xfrm>
      </p:grpSpPr>
      <p:sp>
        <p:nvSpPr>
          <p:cNvPr id="61" name="Google Shape;61;g386d0a4ccb7_0_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2" name="Google Shape;62;g386d0a4ccb7_0_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 name="Shape 65"/>
        <p:cNvGrpSpPr/>
        <p:nvPr/>
      </p:nvGrpSpPr>
      <p:grpSpPr>
        <a:xfrm>
          <a:off x="0" y="0"/>
          <a:ext cx="0" cy="0"/>
          <a:chOff x="0" y="0"/>
          <a:chExt cx="0" cy="0"/>
        </a:xfrm>
      </p:grpSpPr>
      <p:sp>
        <p:nvSpPr>
          <p:cNvPr id="66" name="Google Shape;66;g386d0a4ccb7_0_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7" name="Google Shape;67;g386d0a4ccb7_0_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 name="Shape 70"/>
        <p:cNvGrpSpPr/>
        <p:nvPr/>
      </p:nvGrpSpPr>
      <p:grpSpPr>
        <a:xfrm>
          <a:off x="0" y="0"/>
          <a:ext cx="0" cy="0"/>
          <a:chOff x="0" y="0"/>
          <a:chExt cx="0" cy="0"/>
        </a:xfrm>
      </p:grpSpPr>
      <p:sp>
        <p:nvSpPr>
          <p:cNvPr id="71" name="Google Shape;71;g386d0a4ccb7_0_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2" name="Google Shape;72;g386d0a4ccb7_0_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 name="Shape 75"/>
        <p:cNvGrpSpPr/>
        <p:nvPr/>
      </p:nvGrpSpPr>
      <p:grpSpPr>
        <a:xfrm>
          <a:off x="0" y="0"/>
          <a:ext cx="0" cy="0"/>
          <a:chOff x="0" y="0"/>
          <a:chExt cx="0" cy="0"/>
        </a:xfrm>
      </p:grpSpPr>
      <p:sp>
        <p:nvSpPr>
          <p:cNvPr id="76" name="Google Shape;76;g386d0a4ccb7_0_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7" name="Google Shape;77;g386d0a4ccb7_0_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g386d0a4ccb7_0_2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2" name="Google Shape;82;g386d0a4ccb7_0_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 name="Shape 85"/>
        <p:cNvGrpSpPr/>
        <p:nvPr/>
      </p:nvGrpSpPr>
      <p:grpSpPr>
        <a:xfrm>
          <a:off x="0" y="0"/>
          <a:ext cx="0" cy="0"/>
          <a:chOff x="0" y="0"/>
          <a:chExt cx="0" cy="0"/>
        </a:xfrm>
      </p:grpSpPr>
      <p:sp>
        <p:nvSpPr>
          <p:cNvPr id="86" name="Google Shape;86;g386d0a4ccb7_0_2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7" name="Google Shape;87;g386d0a4ccb7_0_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 name="Shape 90"/>
        <p:cNvGrpSpPr/>
        <p:nvPr/>
      </p:nvGrpSpPr>
      <p:grpSpPr>
        <a:xfrm>
          <a:off x="0" y="0"/>
          <a:ext cx="0" cy="0"/>
          <a:chOff x="0" y="0"/>
          <a:chExt cx="0" cy="0"/>
        </a:xfrm>
      </p:grpSpPr>
      <p:sp>
        <p:nvSpPr>
          <p:cNvPr id="91" name="Google Shape;91;g386d0a4ccb7_0_3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2" name="Google Shape;92;g386d0a4ccb7_0_3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 name="Shape 95"/>
        <p:cNvGrpSpPr/>
        <p:nvPr/>
      </p:nvGrpSpPr>
      <p:grpSpPr>
        <a:xfrm>
          <a:off x="0" y="0"/>
          <a:ext cx="0" cy="0"/>
          <a:chOff x="0" y="0"/>
          <a:chExt cx="0" cy="0"/>
        </a:xfrm>
      </p:grpSpPr>
      <p:sp>
        <p:nvSpPr>
          <p:cNvPr id="96" name="Google Shape;96;g386d0a4ccb7_0_3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7" name="Google Shape;97;g386d0a4ccb7_0_3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 name="Shape 100"/>
        <p:cNvGrpSpPr/>
        <p:nvPr/>
      </p:nvGrpSpPr>
      <p:grpSpPr>
        <a:xfrm>
          <a:off x="0" y="0"/>
          <a:ext cx="0" cy="0"/>
          <a:chOff x="0" y="0"/>
          <a:chExt cx="0" cy="0"/>
        </a:xfrm>
      </p:grpSpPr>
      <p:sp>
        <p:nvSpPr>
          <p:cNvPr id="101" name="Google Shape;101;g386d0a4ccb7_0_4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2" name="Google Shape;102;g386d0a4ccb7_0_4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 name="Shape 105"/>
        <p:cNvGrpSpPr/>
        <p:nvPr/>
      </p:nvGrpSpPr>
      <p:grpSpPr>
        <a:xfrm>
          <a:off x="0" y="0"/>
          <a:ext cx="0" cy="0"/>
          <a:chOff x="0" y="0"/>
          <a:chExt cx="0" cy="0"/>
        </a:xfrm>
      </p:grpSpPr>
      <p:sp>
        <p:nvSpPr>
          <p:cNvPr id="106" name="Google Shape;106;g3ccd4dbc3b6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7" name="Google Shape;107;g3ccd4dbc3b6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GB"/>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xml"/><Relationship Id="rId3" Type="http://schemas.openxmlformats.org/officeDocument/2006/relationships/image" Target="../media/image4.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xml"/><Relationship Id="rId3" Type="http://schemas.openxmlformats.org/officeDocument/2006/relationships/image" Target="../media/image9.jp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3.xml"/><Relationship Id="rId3" Type="http://schemas.openxmlformats.org/officeDocument/2006/relationships/image" Target="../media/image10.jp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4.xml"/><Relationship Id="rId3" Type="http://schemas.openxmlformats.org/officeDocument/2006/relationships/image" Target="../media/image8.jp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5.xml"/><Relationship Id="rId3" Type="http://schemas.openxmlformats.org/officeDocument/2006/relationships/image" Target="../media/image11.jp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6.xml"/><Relationship Id="rId3" Type="http://schemas.openxmlformats.org/officeDocument/2006/relationships/image" Target="../media/image1.jp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7.xml"/><Relationship Id="rId3" Type="http://schemas.openxmlformats.org/officeDocument/2006/relationships/image" Target="../media/image6.jp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8.xml"/><Relationship Id="rId3" Type="http://schemas.openxmlformats.org/officeDocument/2006/relationships/image" Target="../media/image12.jp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9.xml"/><Relationship Id="rId3" Type="http://schemas.openxmlformats.org/officeDocument/2006/relationships/image" Target="../media/image7.jp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0.xml"/><Relationship Id="rId3" Type="http://schemas.openxmlformats.org/officeDocument/2006/relationships/image" Target="../media/image3.jp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1.xml"/><Relationship Id="rId3" Type="http://schemas.openxmlformats.org/officeDocument/2006/relationships/image" Target="../media/image2.jp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2.xml"/><Relationship Id="rId3" Type="http://schemas.openxmlformats.org/officeDocument/2006/relationships/image" Target="../media/image5.jp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 name="Shape 53"/>
        <p:cNvGrpSpPr/>
        <p:nvPr/>
      </p:nvGrpSpPr>
      <p:grpSpPr>
        <a:xfrm>
          <a:off x="0" y="0"/>
          <a:ext cx="0" cy="0"/>
          <a:chOff x="0" y="0"/>
          <a:chExt cx="0" cy="0"/>
        </a:xfrm>
      </p:grpSpPr>
      <p:pic>
        <p:nvPicPr>
          <p:cNvPr descr="AI-Driven Accounts Receivable Risk &amp; Credit Optimization System&#10;Improving Working Capital &amp; Credit Governance&#10;&#10;Domain: Ophthalmology Manufacturing&#10;&#10;Focus: Distributors, Dealers &amp; Hospitals&#10;&#10;Prepared by: Seenivasan D&#10;&#10;Role: Business Analyst (BPR).Add attractive icons, images based on above with the consistent Acconts receivable credit opitmisation (AI) style and theme and with exact content and words  and exact spelling.." id="54" name="Google Shape;54;p13"/>
          <p:cNvPicPr preferRelativeResize="0"/>
          <p:nvPr/>
        </p:nvPicPr>
        <p:blipFill>
          <a:blip r:embed="rId3">
            <a:alphaModFix/>
          </a:blip>
          <a:stretch>
            <a:fillRect/>
          </a:stretch>
        </p:blipFill>
        <p:spPr>
          <a:xfrm>
            <a:off x="0" y="0"/>
            <a:ext cx="9210675" cy="5143500"/>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 name="Shape 58"/>
        <p:cNvGrpSpPr/>
        <p:nvPr/>
      </p:nvGrpSpPr>
      <p:grpSpPr>
        <a:xfrm>
          <a:off x="0" y="0"/>
          <a:ext cx="0" cy="0"/>
          <a:chOff x="0" y="0"/>
          <a:chExt cx="0" cy="0"/>
        </a:xfrm>
      </p:grpSpPr>
      <p:pic>
        <p:nvPicPr>
          <p:cNvPr descr="Executive Summary&#10;&#10;The organization is experiencing increasing Days Sales Outstanding (DSO), rising overdue receivables, and unmanaged credit exposure.&#10;&#10;To address this, we developed an AI-driven Accounts Receivable Risk &amp; Credit Optimization System that:&#10;&#10;Predicts payment delay probability&#10;&#10;Classifies customers into risk segments&#10;&#10;Identifies revenue at risk&#10;&#10;Recommends optimized credit limits&#10;&#10;Improves working capital visibility&#10;&#10;This solution transforms AR from a reactive reporting function into a proactive risk intelligence system.  Add attractive icons, images based on above with the consistent Acconts receivable credit opitmisation (AI) style and theme and with exact content and words and exact spelling.." id="59" name="Google Shape;59;p14"/>
          <p:cNvPicPr preferRelativeResize="0"/>
          <p:nvPr/>
        </p:nvPicPr>
        <p:blipFill>
          <a:blip r:embed="rId3">
            <a:alphaModFix/>
          </a:blip>
          <a:stretch>
            <a:fillRect/>
          </a:stretch>
        </p:blipFill>
        <p:spPr>
          <a:xfrm>
            <a:off x="-35700" y="0"/>
            <a:ext cx="9210675" cy="5143500"/>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 name="Shape 63"/>
        <p:cNvGrpSpPr/>
        <p:nvPr/>
      </p:nvGrpSpPr>
      <p:grpSpPr>
        <a:xfrm>
          <a:off x="0" y="0"/>
          <a:ext cx="0" cy="0"/>
          <a:chOff x="0" y="0"/>
          <a:chExt cx="0" cy="0"/>
        </a:xfrm>
      </p:grpSpPr>
      <p:pic>
        <p:nvPicPr>
          <p:cNvPr descr="Problem Statement&#10;&#10;Current AR management challenges:&#10;&#10;Increasing DSO&#10;&#10;High overdue exposure&#10;&#10;Customers exceeding credit limits&#10;&#10;No predictive monitoring of delay behavior&#10;&#10;Reactive, report-driven approach&#10;&#10;Working capital pressure&#10;&#10;There is no structured framework for risk-based credit decisions.  Add attractive icons, images based on above with the consistent Acconts receivable credit opitmisation (AI) style and theme and with exact content and words and exact spelling.." id="64" name="Google Shape;64;p15"/>
          <p:cNvPicPr preferRelativeResize="0"/>
          <p:nvPr/>
        </p:nvPicPr>
        <p:blipFill>
          <a:blip r:embed="rId3">
            <a:alphaModFix/>
          </a:blip>
          <a:stretch>
            <a:fillRect/>
          </a:stretch>
        </p:blipFill>
        <p:spPr>
          <a:xfrm>
            <a:off x="-35700" y="0"/>
            <a:ext cx="9210675" cy="5143500"/>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8" name="Shape 68"/>
        <p:cNvGrpSpPr/>
        <p:nvPr/>
      </p:nvGrpSpPr>
      <p:grpSpPr>
        <a:xfrm>
          <a:off x="0" y="0"/>
          <a:ext cx="0" cy="0"/>
          <a:chOff x="0" y="0"/>
          <a:chExt cx="0" cy="0"/>
        </a:xfrm>
      </p:grpSpPr>
      <p:pic>
        <p:nvPicPr>
          <p:cNvPr descr="Solution Overview&#10;&#10;We designed a data-driven system with 4 layers:&#10;&#10;1️⃣ ERP Simulation (Invoices &amp; Payments)&#10;2️⃣ Feature Engineering (Payment Behavior Analysis)&#10;3️⃣ AI Risk Model (Delay Probability Prediction)&#10;4️⃣ Credit Optimization Engine + Power BI Dashboard&#10;&#10;The system converts historical transaction data into predictive risk intelligence.   Add attractive icons, images based on above with the consistent Acconts receivable credit opitmisation (AI) style and theme and with exact content and words and exact spelling.." id="69" name="Google Shape;69;p16"/>
          <p:cNvPicPr preferRelativeResize="0"/>
          <p:nvPr/>
        </p:nvPicPr>
        <p:blipFill>
          <a:blip r:embed="rId3">
            <a:alphaModFix/>
          </a:blip>
          <a:stretch>
            <a:fillRect/>
          </a:stretch>
        </p:blipFill>
        <p:spPr>
          <a:xfrm>
            <a:off x="-35700" y="0"/>
            <a:ext cx="9210675" cy="5143500"/>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3" name="Shape 73"/>
        <p:cNvGrpSpPr/>
        <p:nvPr/>
      </p:nvGrpSpPr>
      <p:grpSpPr>
        <a:xfrm>
          <a:off x="0" y="0"/>
          <a:ext cx="0" cy="0"/>
          <a:chOff x="0" y="0"/>
          <a:chExt cx="0" cy="0"/>
        </a:xfrm>
      </p:grpSpPr>
      <p:pic>
        <p:nvPicPr>
          <p:cNvPr descr="AI Model Explanation&#10;&#10;Model Used: Logistic Regression&#10;&#10;Inputs:&#10;&#10;Total invoices&#10;&#10;Average delay days&#10;&#10;Late payment frequency&#10;&#10;Credit utilization&#10;&#10;Exposure amount&#10;&#10;Output:&#10;&#10;Risk Probability (0–100%)&#10;&#10;Customers classified into:&#10;&#10;Low Risk (0–30%)&#10;&#10;Medium Risk (31–60%)&#10;&#10;High Risk (61–100%)&#10;&#10;The probability score drives credit optimization decisions..   Add attractive icons, images based on above with the consistent Acconts receivable credit opitmisation (AI) style and theme and with exact content and words and exact spelling.." id="74" name="Google Shape;74;p17"/>
          <p:cNvPicPr preferRelativeResize="0"/>
          <p:nvPr/>
        </p:nvPicPr>
        <p:blipFill>
          <a:blip r:embed="rId3">
            <a:alphaModFix/>
          </a:blip>
          <a:stretch>
            <a:fillRect/>
          </a:stretch>
        </p:blipFill>
        <p:spPr>
          <a:xfrm>
            <a:off x="-35700" y="0"/>
            <a:ext cx="9210675" cy="5143500"/>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8" name="Shape 78"/>
        <p:cNvGrpSpPr/>
        <p:nvPr/>
      </p:nvGrpSpPr>
      <p:grpSpPr>
        <a:xfrm>
          <a:off x="0" y="0"/>
          <a:ext cx="0" cy="0"/>
          <a:chOff x="0" y="0"/>
          <a:chExt cx="0" cy="0"/>
        </a:xfrm>
      </p:grpSpPr>
      <p:pic>
        <p:nvPicPr>
          <p:cNvPr descr="Business Rules Framework&#10;&#10;To ensure structured decision-making:&#10;&#10;Delay Rule:&#10;Payment Date &gt; Due Date → Delay_Flag = 1&#10;&#10;Risk Categorization:&#10;0–30% → Low&#10;31–60% → Medium&#10;61–100% → High&#10;&#10;Credit Optimization:&#10;Low Risk → +15% Credit&#10;Medium Risk → Maintain&#10;High Risk → -30% Credit&#10;&#10;This converts analytics into action.   Add attractive icons, images based on above with the consistent Acconts receivable credit opitmisation (AI) style and theme and with exact content and words and exact spelling.." id="79" name="Google Shape;79;p18"/>
          <p:cNvPicPr preferRelativeResize="0"/>
          <p:nvPr/>
        </p:nvPicPr>
        <p:blipFill>
          <a:blip r:embed="rId3">
            <a:alphaModFix/>
          </a:blip>
          <a:stretch>
            <a:fillRect/>
          </a:stretch>
        </p:blipFill>
        <p:spPr>
          <a:xfrm>
            <a:off x="-35700" y="0"/>
            <a:ext cx="9210675" cy="5143500"/>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 name="Shape 83"/>
        <p:cNvGrpSpPr/>
        <p:nvPr/>
      </p:nvGrpSpPr>
      <p:grpSpPr>
        <a:xfrm>
          <a:off x="0" y="0"/>
          <a:ext cx="0" cy="0"/>
          <a:chOff x="0" y="0"/>
          <a:chExt cx="0" cy="0"/>
        </a:xfrm>
      </p:grpSpPr>
      <p:pic>
        <p:nvPicPr>
          <p:cNvPr descr="Risk ( I ) .   🔎 1️⃣ Risk Probability Distribution – Key Findings From the histogram: Majority of customers are in low-to-medium probability range (0.0–0.4). However, there is a significant spike at 1.0 probability. Around 240 customers appear at the highest risk band. 🔥 Insight: Risk is not evenly distributed — it is concentrated in a specific high-risk segment. 🎯 Executive Message: While most customers show moderate behavior, a concentrated cluster exhibits extreme delay risk, requiring immediate attention. 🔎 2️⃣ Top 10 High-Risk Customers – Key Findings From your bar chart: Top 10 customers have expected loss ranging from: ₹9.7M to ₹11.7M each That means: 👉 Just 10 customers are contributing ~₹100M+ in expected loss. 🔥 Insight: Risk exposure is highly concentrated among a small number of accounts. 🎯 Executive Message: The top 10 high-risk customers represent a disproportionate share of portfolio risk and should be prioritized for credit review and collection intervention. 🔎 3️⃣ Overview of High-Risk Customers – Key Findings From the detailed table: Total High Risk Exposure: ₹1,538.48M Total Expected Loss (High Risk): ₹1,515.16M Average Risk Probability: 0.99 This means: 👉 High-risk customers are almost certain to delay. 👉 Expected loss is nearly equal to exposure. This is extremely concentrated risk. 🔥 Critical Insight: High-risk customers have: Large total exposure High probability (0.99–1.00) Credit limits still active This signals: ⚠ Overexposure to risky accounts.  Add attractive icons, images based on above with the consistent Acconts receivable credit opitmisation (AI) style and theme and with exact content and words and exact spelling.. " id="84" name="Google Shape;84;p19"/>
          <p:cNvPicPr preferRelativeResize="0"/>
          <p:nvPr/>
        </p:nvPicPr>
        <p:blipFill>
          <a:blip r:embed="rId3">
            <a:alphaModFix/>
          </a:blip>
          <a:stretch>
            <a:fillRect/>
          </a:stretch>
        </p:blipFill>
        <p:spPr>
          <a:xfrm>
            <a:off x="-35700" y="0"/>
            <a:ext cx="9210675" cy="5143500"/>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8" name="Shape 88"/>
        <p:cNvGrpSpPr/>
        <p:nvPr/>
      </p:nvGrpSpPr>
      <p:grpSpPr>
        <a:xfrm>
          <a:off x="0" y="0"/>
          <a:ext cx="0" cy="0"/>
          <a:chOff x="0" y="0"/>
          <a:chExt cx="0" cy="0"/>
        </a:xfrm>
      </p:grpSpPr>
      <p:pic>
        <p:nvPicPr>
          <p:cNvPr descr="Risk ( 2 ).   4️⃣ Regional Risk Distribution – Key Findings&#10;&#10;From Expected Loss by Region:&#10;&#10;Region Expected Loss&#10;South ₹548M&#10;West ₹504M&#10;North ₹472M&#10;East ₹466M&#10;🔥 Insight:&#10;&#10;South region has highest expected loss.&#10;&#10;But risk is distributed across all regions, not localized.&#10;&#10;🎯 Executive Message:&#10;&#10;Risk exposure is systemic across regions, with South and West contributing the highest financial impact.&#10;&#10;🔎 5️⃣ Strategic Risk Pattern&#10;&#10;From combined visuals:&#10;&#10;✔ Risk concentration exists at high probability band&#10;✔ High-risk customers contribute majority of expected loss&#10;✔ Regional risk is broadly spread&#10;✔ Exposure and expected loss are closely aligned&#10;&#10;This means:&#10;&#10;The model is clearly separating risky customers effectively.    Add attractive icons, images based on above with the consistent Acconts receivable credit opitmisation (AI) style and theme and with exact content and words and exact spelling.." id="89" name="Google Shape;89;p20"/>
          <p:cNvPicPr preferRelativeResize="0"/>
          <p:nvPr/>
        </p:nvPicPr>
        <p:blipFill>
          <a:blip r:embed="rId3">
            <a:alphaModFix/>
          </a:blip>
          <a:stretch>
            <a:fillRect/>
          </a:stretch>
        </p:blipFill>
        <p:spPr>
          <a:xfrm>
            <a:off x="-35700" y="0"/>
            <a:ext cx="9210675" cy="5143500"/>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3" name="Shape 93"/>
        <p:cNvGrpSpPr/>
        <p:nvPr/>
      </p:nvGrpSpPr>
      <p:grpSpPr>
        <a:xfrm>
          <a:off x="0" y="0"/>
          <a:ext cx="0" cy="0"/>
          <a:chOff x="0" y="0"/>
          <a:chExt cx="0" cy="0"/>
        </a:xfrm>
      </p:grpSpPr>
      <p:pic>
        <p:nvPicPr>
          <p:cNvPr descr="Credit Optimisation ( 1 )...🔎 1️⃣ Portfolio-Level Credit Rebalancing&#10;&#10;From your KPI cards:&#10;&#10;Current Credit Limit: 983M&#10;&#10;Recommended Credit Limit: 910M&#10;&#10;Net Credit Adjustment: -73M&#10;&#10;Credit Increase: +54M&#10;&#10;Credit Decrease: -127M&#10;&#10;🔥 Key Insight:&#10;&#10;The system recommends a net portfolio reduction of 73M, indicating overall exposure tightening.&#10;&#10;However:&#10;&#10;54M credit safely increased to low-risk customers&#10;&#10;127M credit reduced from high-risk customers&#10;&#10;This shows strategic reallocation, not blanket reduction.&#10;&#10;🎯 Executive Message:&#10;&#10;We are reallocating credit from high-risk accounts toward reliable customers, resulting in controlled net exposure reduction.&#10;&#10;🔎 2️⃣ Credit Adjustment by Risk Category&#10;&#10;From your chart:&#10;&#10;Low Risk → +54M&#10;&#10;Medium Risk → 0M&#10;&#10;High Risk → -127M&#10;&#10;🔥 Key Insight:&#10;&#10;High-risk customers are the primary source of credit reduction.&#10;&#10;Medium-risk customers are maintained (neutral).&#10;&#10;Low-risk customers are receiving structured expansion.&#10;&#10;This aligns perfectly with your AI rule engine.&#10;&#10;🎯 Executive Message:&#10;&#10;Credit expansion is targeted toward low-risk customers, while high-risk exposure is being aggressively reduced.&#10;&#10;🔎 3️⃣ Risk-Based Credit Discipline&#10;&#10;From the second visual (Current vs Recommended):&#10;&#10;High Risk:&#10;&#10;Current: 424M&#10;&#10;Recommended: 297M&#10;&#10;Reduction = 127M&#10;&#10;Low Risk:&#10;&#10;Current: 360M&#10;&#10;Recommended: 414M&#10;&#10;Increase = 54M&#10;&#10;Medium Risk:&#10;&#10;Maintained at 199M&#10;&#10;🔥 Key Insight:&#10;&#10;Credit exposure is shifting away from risky segments toward stable segments.&#10;&#10;This improves:&#10;&#10;Portfolio quality&#10;&#10;Cash flow stability&#10;&#10;Risk-adjusted growth.   Add attractive icons, images based on above with the consistent Acconts receivable credit opitmisation (AI) style and theme and with exact content and words and exact spelling.." id="94" name="Google Shape;94;p21"/>
          <p:cNvPicPr preferRelativeResize="0"/>
          <p:nvPr/>
        </p:nvPicPr>
        <p:blipFill>
          <a:blip r:embed="rId3">
            <a:alphaModFix/>
          </a:blip>
          <a:stretch>
            <a:fillRect/>
          </a:stretch>
        </p:blipFill>
        <p:spPr>
          <a:xfrm>
            <a:off x="-35700" y="0"/>
            <a:ext cx="9210675" cy="5143500"/>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8" name="Shape 98"/>
        <p:cNvGrpSpPr/>
        <p:nvPr/>
      </p:nvGrpSpPr>
      <p:grpSpPr>
        <a:xfrm>
          <a:off x="0" y="0"/>
          <a:ext cx="0" cy="0"/>
          <a:chOff x="0" y="0"/>
          <a:chExt cx="0" cy="0"/>
        </a:xfrm>
      </p:grpSpPr>
      <p:pic>
        <p:nvPicPr>
          <p:cNvPr descr="Credit optimisation ( 2 ) 🔎 4️⃣ Customer-Level Action Table Insights&#10;&#10;From your table:&#10;&#10;High-risk customers mostly have probability = 1.00&#10;&#10;Significant credit reductions applied&#10;&#10;Credit Difference column clearly shows negative adjustments&#10;&#10;Expected losses are concentrated among high-risk accounts&#10;&#10;🔥 Critical Insight:&#10;&#10;Credit reductions are directly aligned with high probability of delay.&#10;&#10;This proves your model is:&#10;&#10;✔ Not arbitrary&#10;✔ Data-driven&#10;✔ Consistent&#10;&#10;🔎 5️⃣ Strategic Portfolio Effect&#10;&#10;Your net portfolio effect:&#10;&#10;Current Credit: 983M&#10;Recommended: 910M&#10;Reduction: 7.4% approx.&#10;&#10;But importantly:&#10;&#10;High-risk exposure reduced by ~30%&#10;&#10;Low-risk exposure increased by ~15%&#10;&#10;This improves overall credit mix.  Add attractive icons, images based on above with the consistent Acconts receivable credit opitmisation (AI) style and theme and with exact content and words and exact spelling.." id="99" name="Google Shape;99;p22"/>
          <p:cNvPicPr preferRelativeResize="0"/>
          <p:nvPr/>
        </p:nvPicPr>
        <p:blipFill>
          <a:blip r:embed="rId3">
            <a:alphaModFix/>
          </a:blip>
          <a:stretch>
            <a:fillRect/>
          </a:stretch>
        </p:blipFill>
        <p:spPr>
          <a:xfrm>
            <a:off x="-35700" y="0"/>
            <a:ext cx="9210675" cy="5143500"/>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3" name="Shape 103"/>
        <p:cNvGrpSpPr/>
        <p:nvPr/>
      </p:nvGrpSpPr>
      <p:grpSpPr>
        <a:xfrm>
          <a:off x="0" y="0"/>
          <a:ext cx="0" cy="0"/>
          <a:chOff x="0" y="0"/>
          <a:chExt cx="0" cy="0"/>
        </a:xfrm>
      </p:grpSpPr>
      <p:pic>
        <p:nvPicPr>
          <p:cNvPr descr="Working Capital Impact.   🔎 1️⃣ Overall Portfolio Snapshot&#10;&#10;From the KPI cards:&#10;&#10;Total Customers: 400&#10;&#10;Total Invoices: 10K&#10;&#10;Total Exposure: ₹3,484.13M&#10;&#10;High Risk Exposure: ₹1,538.48M&#10;&#10;High Risk %: 62%&#10;&#10;Revenue at Risk %: 44%&#10;&#10;🔥 Key Insight:&#10;&#10;Almost half of total receivables (44%) are exposed to high-risk customers.&#10;&#10;This is significant working capital vulnerability.&#10;&#10;🔎 2️⃣ Exposure Concentration by Risk Category&#10;&#10;From Total Exposure chart:&#10;&#10;Risk Exposure&#10;High ₹1,538M&#10;Low ₹1,257M&#10;Medium ₹689M&#10;🔥 Insight:&#10;&#10;High-risk customers hold the largest share of total receivables.&#10;&#10;This indicates overexposure to risky segments.&#10;&#10;🎯 Executive Message:&#10;&#10;The portfolio is disproportionately exposed to high-risk accounts, creating elevated working capital volatility.&#10;&#10;🔎 3️⃣ Expected Loss Concentration&#10;&#10;From Expected Loss chart:&#10;&#10;Risk Expected Loss&#10;High ₹1,515M&#10;Medium ₹296M&#10;Low ₹180M&#10;🔥 Critical Insight:&#10;&#10;Expected loss from high-risk customers is nearly equal to their exposure.&#10;&#10;That means:&#10;&#10;Risk probability is extremely high in that segment.&#10;&#10;High-risk segment is driving the majority of financial vulnerability.&#10;&#10;🔎 4️⃣ Risk vs Exposure Efficiency&#10;&#10;Low-risk customers:&#10;&#10;Exposure: ₹1,257M&#10;&#10;Expected Loss: ₹180M&#10;&#10;This is a healthy risk-return balance.&#10;&#10;High-risk customers:&#10;&#10;Exposure: ₹1,538M&#10;&#10;Expected Loss: ₹1,515M&#10;&#10;This indicates severe concentration risk.&#10;&#10;🔥 Insight:&#10;&#10;Low-risk customers generate revenue with controlled risk, while high-risk customers carry disproportionate financial downside.&#10;&#10;🔎 5️⃣ Strategic Working Capital Implication&#10;&#10;Because:&#10;&#10;44% revenue at risk&#10;&#10;62% of exposure in high-risk category&#10;&#10;Expected loss heavily concentrated in one segment&#10;&#10;This directly impacts:&#10;&#10;✔ Cash flow predictability&#10;✔ Liquidity planning&#10;✔ Cost of capital&#10;✔ DSO stability.   Add attractive icons, images based on above with the consistent Acconts receivable credit opitmisation (AI) style and theme and with exact content and words and exact spelling.." id="104" name="Google Shape;104;p23"/>
          <p:cNvPicPr preferRelativeResize="0"/>
          <p:nvPr/>
        </p:nvPicPr>
        <p:blipFill>
          <a:blip r:embed="rId3">
            <a:alphaModFix/>
          </a:blip>
          <a:stretch>
            <a:fillRect/>
          </a:stretch>
        </p:blipFill>
        <p:spPr>
          <a:xfrm>
            <a:off x="-35700" y="0"/>
            <a:ext cx="9210675" cy="5143500"/>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8" name="Shape 108"/>
        <p:cNvGrpSpPr/>
        <p:nvPr/>
      </p:nvGrpSpPr>
      <p:grpSpPr>
        <a:xfrm>
          <a:off x="0" y="0"/>
          <a:ext cx="0" cy="0"/>
          <a:chOff x="0" y="0"/>
          <a:chExt cx="0" cy="0"/>
        </a:xfrm>
      </p:grpSpPr>
      <p:pic>
        <p:nvPicPr>
          <p:cNvPr descr="**Slide Title: Conclusion &amp; Strategic Impact**&#10;&#10;**Project Summary**&#10;&#10;* An AI-driven Accounts Receivable Risk &amp; Credit Optimization System was developed to transform AR management from reactive monitoring to proactive risk intelligence.&#10;* The system analyzes payment behavior, predicts delay probability, and segments customers into Low, Medium, and High risk categories.&#10;&#10;**Key Business Insights**&#10;&#10;* Total receivable exposure stands at **₹3,484M across 400 customers**.&#10;* **62% of exposure lies in the high-risk segment**, creating working capital vulnerability.&#10;* **44% of revenue is at risk**, indicating potential delays in cash realization.&#10;&#10;**Business Value Delivered**&#10;&#10;* Enables **risk-based credit decision making**.&#10;* Reallocates credit from **high-risk customers to reliable payers**.&#10;* Improves **working capital visibility and financial control**.&#10;* Supports **proactive credit governance through executive dashboards**.&#10;&#10;**Strategic Recommendation**&#10;&#10;* Implement the system as a **monthly AR risk monitoring tool**.&#10;* Integrate with ERP data for continuous updates.&#10;* Use risk insights to guide **credit approvals, collections prioritization, and exposure management**.&#10;&#10;**Final Takeaway**&#10;*AI-driven credit optimization can significantly strengthen financial discipline, reduce exposure risk, and improve liquidity management across the customer portfolio.*&#10;Add attractive icons, images based on above with the consistent Account Receivable credit Risk opitmization (AI) and theme and with exact content and words and exact spelling." id="109" name="Google Shape;109;p24"/>
          <p:cNvPicPr preferRelativeResize="0"/>
          <p:nvPr/>
        </p:nvPicPr>
        <p:blipFill>
          <a:blip r:embed="rId3">
            <a:alphaModFix/>
          </a:blip>
          <a:stretch>
            <a:fillRect/>
          </a:stretch>
        </p:blipFill>
        <p:spPr>
          <a:xfrm>
            <a:off x="-35700" y="0"/>
            <a:ext cx="9210675" cy="5143500"/>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